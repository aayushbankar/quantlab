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Pramaan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8FAFC"/>
                </a:solidFill>
                <a:latin typeface="Calibri"/>
              </a:rPr>
              <a:t>Prove your edge before you deploy a rupee.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An event-driven backtesting engine and overfitting
diagnostic platform for Indian equities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80560"/>
            <a:ext cx="1219169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Aayush Avinash Bankar (246230316006)  ·  Meet Jayeshbhai Patel (246230316133)
GTU Diploma Engineering, Semester 5 · DI05000341 Minor Project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C0000"/>
                </a:solidFill>
                <a:latin typeface="Calibri"/>
              </a:rPr>
              <a:t>Reproducible from 30 real runs on 10 NSE symbols · 2019-01-01..2024-12-31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Backtests Lie. Three Specific Lies.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118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74320"/>
          <a:lstStyle/>
          <a:p>
            <a:pPr algn="ctr"/>
            <a:r>
              <a:rPr sz="2000" b="1">
                <a:solidFill>
                  <a:srgbClr val="B42828"/>
                </a:solidFill>
                <a:latin typeface="Calibri"/>
              </a:rPr>
              <a:t>Hidden costs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STT, stamp duty, GST, NSE and SEBI turnover are
omitted — gross return is reported as 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371600"/>
            <a:ext cx="36118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74320"/>
          <a:lstStyle/>
          <a:p>
            <a:pPr algn="ctr"/>
            <a:r>
              <a:rPr sz="2000" b="1">
                <a:solidFill>
                  <a:srgbClr val="B42828"/>
                </a:solidFill>
                <a:latin typeface="Calibri"/>
              </a:rPr>
              <a:t>Hidden slippage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Orders are filled at the close price as if a
sized order had no market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8" y="1371600"/>
            <a:ext cx="36118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74320"/>
          <a:lstStyle/>
          <a:p>
            <a:pPr algn="ctr"/>
            <a:r>
              <a:rPr sz="2000" b="1">
                <a:solidFill>
                  <a:srgbClr val="B42828"/>
                </a:solidFill>
                <a:latin typeface="Calibri"/>
              </a:rPr>
              <a:t>Hidden overfitting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One parameter set chosen from many; the Sharpe
ratio is inflated by selection.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03366"/>
                </a:solidFill>
                <a:latin typeface="Calibri"/>
              </a:rPr>
              <a:t>Pramaan was built to remove all three — structurally, not by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709160"/>
            <a:ext cx="9631375" cy="13716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Calibri"/>
              </a:rPr>
              <a:t>A profitable backtest is not evidence of a profitable strategy.
We measure whether a strategy survives reality — before a rupee is deployed.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Architecture: An Engine That Cannot Cheat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45775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4748B"/>
                </a:solidFill>
                <a:latin typeface="Calibri"/>
              </a:rPr>
              <a:t>Presentation   </a:t>
            </a:r>
            <a:r>
              <a:rPr sz="1300">
                <a:solidFill>
                  <a:srgbClr val="64748B"/>
                </a:solidFill>
                <a:latin typeface="Calibri"/>
              </a:rPr>
              <a:t>Next.js UI · Streamlit fallback · CLI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45775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4748B"/>
                </a:solidFill>
                <a:latin typeface="Calibri"/>
              </a:rPr>
              <a:t>API   </a:t>
            </a:r>
            <a:r>
              <a:rPr sz="1300">
                <a:solidFill>
                  <a:srgbClr val="64748B"/>
                </a:solidFill>
                <a:latin typeface="Calibri"/>
              </a:rPr>
              <a:t>FastAPI REST · documented request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0545775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4748B"/>
                </a:solidFill>
                <a:latin typeface="Calibri"/>
              </a:rPr>
              <a:t>Analytics   </a:t>
            </a:r>
            <a:r>
              <a:rPr sz="1300">
                <a:solidFill>
                  <a:srgbClr val="64748B"/>
                </a:solidFill>
                <a:latin typeface="Calibri"/>
              </a:rPr>
              <a:t>Metrics · Deflated Sharpe · CPCV + embargo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45775" cy="74980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Engine  ←  the contribution   </a:t>
            </a:r>
            <a:r>
              <a:rPr sz="1300">
                <a:solidFill>
                  <a:srgbClr val="CBD5E1"/>
                </a:solidFill>
                <a:latin typeface="Calibri"/>
              </a:rPr>
              <a:t>BacktestEngine · Portfolio · Position · IndianCostModel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10545775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4748B"/>
                </a:solidFill>
                <a:latin typeface="Calibri"/>
              </a:rPr>
              <a:t>Strategy + Data   </a:t>
            </a:r>
            <a:r>
              <a:rPr sz="1300">
                <a:solidFill>
                  <a:srgbClr val="64748B"/>
                </a:solidFill>
                <a:latin typeface="Calibri"/>
              </a:rPr>
              <a:t>SMA · RSI · Momentum · BuyAndHold · fetch → clean →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003366"/>
                </a:solidFill>
                <a:latin typeface="Calibri"/>
              </a:rPr>
              <a:t>The engine has no dependency on the UI — it runs headlessly with no web framework present. It is never rewritten; bugs are fixed with regression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Methodology: Remove Every Excuse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CC0000"/>
                </a:solidFill>
                <a:latin typeface="Calibri"/>
              </a:rPr>
              <a:t>1 · Zero look-ahead, by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Signal generated at day t close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Order queued, filled at day t+1 open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Limit orders: pessimistic trade-through only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Future data cannot enter a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CC0000"/>
                </a:solidFill>
                <a:latin typeface="Calibri"/>
              </a:rPr>
              <a:t>2 · The full Indian statutory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STT 0.10% on both legs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Stamp duty 0.015% — buy leg only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NSE turnover 0.00297% + SEBI 0.0001%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GST 18% on brokerage + turnover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Almgren–Chriss √-law impact on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CC0000"/>
                </a:solidFill>
                <a:latin typeface="Calibri"/>
              </a:rPr>
              <a:t>3 · Overfitting is measured, not assumed 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Deflated Sharpe Ratio — the expected maximum Sharpe across N trials, so a fished-for result is penalised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Combinatorial Purged Cross-Validation with embargo, validated against an AR(1) ground truth where the leakage answer is known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Real Results — 10 NSE Symbols, 2019–2024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325880"/>
          <a:ext cx="10058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Return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SMA(20,50)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SMA(10,30)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0.685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13.25%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107.7%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-14.6%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RSI(14,30,70)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-32.8%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Momentum(20)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0.186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7.43%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52.4%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E293B"/>
                          </a:solidFill>
                          <a:latin typeface="Calibri"/>
                        </a:rPr>
                        <a:t>-10.3%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Buy-and-hold benchmark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19.07%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178.8%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-32.9%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1560" y="4709160"/>
            <a:ext cx="10058400" cy="14173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CC0000"/>
                </a:solidFill>
                <a:latin typeface="Calibri"/>
              </a:rPr>
              <a:t>0 of 4 active strategies beat passive ownership.
</a:t>
            </a:r>
          </a:p>
          <a:p>
            <a:r>
              <a:rPr sz="1300">
                <a:solidFill>
                  <a:srgbClr val="1E293B"/>
                </a:solidFill>
                <a:latin typeface="Calibri"/>
              </a:rPr>
              <a:t>Best active: sma crossover 10 30 at Sharpe 0.685 — still -0.060 below the benchmark.
Reproducible from experiments/experiment_log.csv · costs enabled · Rs100,000 start · 10% equity sizing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Profit Mirage — What Costs Actually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profit_mi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877327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234440"/>
            <a:ext cx="3657600" cy="393192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/>
            <a:r>
              <a:rPr sz="1500" b="1">
                <a:solidFill>
                  <a:srgbClr val="B42828"/>
                </a:solidFill>
                <a:latin typeface="Calibri"/>
              </a:rPr>
              <a:t>Momentum(20)
costs OFF → ON</a:t>
            </a:r>
          </a:p>
          <a:p>
            <a:pPr algn="ctr"/>
            <a:r>
              <a:rPr sz="1700" b="1">
                <a:solidFill>
                  <a:srgbClr val="1E293B"/>
                </a:solidFill>
                <a:latin typeface="Calibri"/>
              </a:rPr>
              <a:t>Sharpe  0.359 → 0.186</a:t>
            </a:r>
          </a:p>
          <a:p>
            <a:pPr algn="ctr"/>
            <a:r>
              <a:rPr sz="1400" b="0">
                <a:solidFill>
                  <a:srgbClr val="B42828"/>
                </a:solidFill>
                <a:latin typeface="Calibri"/>
              </a:rPr>
              <a:t>48.2% of risk-adjusted return removed</a:t>
            </a:r>
          </a:p>
          <a:p>
            <a:pPr algn="ctr"/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Equity  Rs165,368</a:t>
            </a:r>
          </a:p>
          <a:p>
            <a:pPr algn="ctr"/>
            <a:r>
              <a:rPr sz="1500" b="0">
                <a:solidFill>
                  <a:srgbClr val="1E293B"/>
                </a:solidFill>
                <a:latin typeface="Calibri"/>
              </a:rPr>
              <a:t>→ Rs152,373</a:t>
            </a:r>
          </a:p>
          <a:p>
            <a:pPr algn="ctr"/>
            <a:r>
              <a:rPr sz="1800" b="1">
                <a:solidFill>
                  <a:srgbClr val="B42828"/>
                </a:solidFill>
                <a:latin typeface="Calibri"/>
              </a:rPr>
              <a:t>Rs12,995 destroyed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on Rs100,000 of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  <a:latin typeface="Calibri"/>
              </a:rPr>
              <a:t>Same strategy. Same data. Same execution clock. Only the statutory stack changes — and it takes almost half the 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Overfitting: Measured,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oos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9789678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234440"/>
            <a:ext cx="3657600" cy="192024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PBO = 60.0%</a:t>
            </a:r>
          </a:p>
          <a:p>
            <a:pPr algn="ctr"/>
            <a:r>
              <a:rPr sz="1100">
                <a:solidFill>
                  <a:srgbClr val="CBD5E1"/>
                </a:solidFill>
                <a:latin typeface="Calibri"/>
              </a:rPr>
              <a:t>95% CI: [44.4%, 73.3%] · 133 configs · 45 paths
probability in-sample winner underperforms OOS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383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▪  Momentum decays 52% from IS to OOS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▪  SMA(10,30) decays 31%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▪  Embargo validated on AR(1) ground truth — leakage was detected, then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C0000"/>
                </a:solidFill>
                <a:latin typeface="Calibri"/>
              </a:rPr>
              <a:t>Choosing the best in-sample parameter set is a selection filter that loses roughly two times in three. That is not a caveat — it is the product.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Engineering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48640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100" b="1">
                <a:solidFill>
                  <a:srgbClr val="167A3C"/>
                </a:solidFill>
                <a:latin typeface="Calibri"/>
              </a:rPr>
              <a:t>72 automated tests</a:t>
            </a:r>
          </a:p>
          <a:p>
            <a:r>
              <a:rPr sz="1300">
                <a:solidFill>
                  <a:srgbClr val="1E293B"/>
                </a:solidFill>
                <a:latin typeface="Calibri"/>
              </a:rPr>
              <a:t>up from 9 at baseline (100% offline via seeded fixtures)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48640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100" b="1">
                <a:solidFill>
                  <a:srgbClr val="B42828"/>
                </a:solidFill>
                <a:latin typeface="Calibri"/>
              </a:rPr>
              <a:t>5 defects found by testing</a:t>
            </a:r>
          </a:p>
          <a:p>
            <a:r>
              <a:rPr sz="1300">
                <a:solidFill>
                  <a:srgbClr val="1E293B"/>
                </a:solidFill>
                <a:latin typeface="Calibri"/>
              </a:rPr>
              <a:t>RSI inverted signal, duplicate dates, missing scipy, synthetic charts, cash-based sizing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548640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100" b="1">
                <a:solidFill>
                  <a:srgbClr val="167A3C"/>
                </a:solidFill>
                <a:latin typeface="Calibri"/>
              </a:rPr>
              <a:t>Determinism enforced</a:t>
            </a:r>
          </a:p>
          <a:p>
            <a:r>
              <a:rPr sz="1300">
                <a:solidFill>
                  <a:srgbClr val="1E293B"/>
                </a:solidFill>
                <a:latin typeface="Calibri"/>
              </a:rPr>
              <a:t>byte-identical equity curve, verified by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366"/>
                </a:solidFill>
                <a:latin typeface="Calibri"/>
              </a:rPr>
              <a:t>Verification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Every claim carries a verification record — method and evidence path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Positive and negative results are logged with equal weight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Every figure carries a parameter stamp tying it to a run ID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▪  Reproduce everything with clean checkout commands: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CC0000"/>
                </a:solidFill>
                <a:latin typeface="Calibri"/>
              </a:rPr>
              <a:t>python scripts/run_experiments.py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CC0000"/>
                </a:solidFill>
                <a:latin typeface="Calibri"/>
              </a:rPr>
              <a:t>python scripts/generate_real_charts.py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167A3C"/>
                </a:solidFill>
                <a:latin typeface="Calibri"/>
              </a:rPr>
              <a:t>Then: pytest tests/ -q  →  72 passed in ~7s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Pramaan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40135" y="146304"/>
            <a:ext cx="685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4400" b="1" i="0">
                <a:solidFill>
                  <a:srgbClr val="0A4D8C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62895" cy="777240"/>
          </a:xfrm>
          <a:prstGeom prst="roundRect">
            <a:avLst/>
          </a:prstGeom>
          <a:solidFill>
            <a:srgbClr val="FDF2F2"/>
          </a:solidFill>
          <a:ln w="1524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1">
                <a:solidFill>
                  <a:srgbClr val="B42828"/>
                </a:solidFill>
                <a:latin typeface="Calibri"/>
              </a:rPr>
              <a:t>No live trading   </a:t>
            </a:r>
            <a:r>
              <a:rPr sz="1400">
                <a:solidFill>
                  <a:srgbClr val="1E293B"/>
                </a:solidFill>
                <a:latin typeface="Calibri"/>
              </a:rPr>
              <a:t>No broker connection, no order routing, no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362895" cy="777240"/>
          </a:xfrm>
          <a:prstGeom prst="roundRect">
            <a:avLst/>
          </a:prstGeom>
          <a:solidFill>
            <a:srgbClr val="FDF2F2"/>
          </a:solidFill>
          <a:ln w="1524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1">
                <a:solidFill>
                  <a:srgbClr val="B42828"/>
                </a:solidFill>
                <a:latin typeface="Calibri"/>
              </a:rPr>
              <a:t>No intraday or tick data   </a:t>
            </a:r>
            <a:r>
              <a:rPr sz="1400">
                <a:solidFill>
                  <a:srgbClr val="1E293B"/>
                </a:solidFill>
                <a:latin typeface="Calibri"/>
              </a:rPr>
              <a:t>Daily bars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10362895" cy="777240"/>
          </a:xfrm>
          <a:prstGeom prst="roundRect">
            <a:avLst/>
          </a:prstGeom>
          <a:solidFill>
            <a:srgbClr val="FDF2F2"/>
          </a:solidFill>
          <a:ln w="1524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1">
                <a:solidFill>
                  <a:srgbClr val="B42828"/>
                </a:solidFill>
                <a:latin typeface="Calibri"/>
              </a:rPr>
              <a:t>No derivatives or other asset classes   </a:t>
            </a:r>
            <a:r>
              <a:rPr sz="1400">
                <a:solidFill>
                  <a:srgbClr val="1E293B"/>
                </a:solidFill>
                <a:latin typeface="Calibri"/>
              </a:rPr>
              <a:t>NSE cash equities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10362895" cy="777240"/>
          </a:xfrm>
          <a:prstGeom prst="roundRect">
            <a:avLst/>
          </a:prstGeom>
          <a:solidFill>
            <a:srgbClr val="FDF2F2"/>
          </a:solidFill>
          <a:ln w="1524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1">
                <a:solidFill>
                  <a:srgbClr val="B42828"/>
                </a:solidFill>
                <a:latin typeface="Calibri"/>
              </a:rPr>
              <a:t>No short selling or leverage   </a:t>
            </a:r>
            <a:r>
              <a:rPr sz="1400">
                <a:solidFill>
                  <a:srgbClr val="1E293B"/>
                </a:solidFill>
                <a:latin typeface="Calibri"/>
              </a:rPr>
              <a:t>Long-only positions.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10362895" cy="777240"/>
          </a:xfrm>
          <a:prstGeom prst="roundRect">
            <a:avLst/>
          </a:prstGeom>
          <a:solidFill>
            <a:srgbClr val="FDF2F2"/>
          </a:solidFill>
          <a:ln w="15240">
            <a:solidFill>
              <a:srgbClr val="B4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700" b="1">
                <a:solidFill>
                  <a:srgbClr val="B42828"/>
                </a:solidFill>
                <a:latin typeface="Calibri"/>
              </a:rPr>
              <a:t>Not investment advice   </a:t>
            </a:r>
            <a:r>
              <a:rPr sz="1400">
                <a:solidFill>
                  <a:srgbClr val="1E293B"/>
                </a:solidFill>
                <a:latin typeface="Calibri"/>
              </a:rPr>
              <a:t>A simulation and validation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15000"/>
            <a:ext cx="10362895" cy="77724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Stating boundaries explicitly is a feature. An evaluator is entitled to them before the demo — not after.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45775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1700">
                <a:solidFill>
                  <a:srgbClr val="FFFFFF"/>
                </a:solidFill>
                <a:latin typeface="Calibri"/>
              </a:rPr>
              <a:t>Under realistic Indian costs over 2019–2024, none of the four classic strategies beat passive ownership on a risk-adjusted basis.
Student Reflections (Syllabus 5.4): Zero-lookahead execution and statutory friction explain why over 90% of retail strategies fail live. An honest tool measures true worth.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3291840" cy="13716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48%</a:t>
            </a:r>
          </a:p>
          <a:p>
            <a:pPr algn="ctr"/>
            <a:r>
              <a:rPr sz="1200">
                <a:solidFill>
                  <a:srgbClr val="CBD5E1"/>
                </a:solidFill>
                <a:latin typeface="Calibri"/>
              </a:rPr>
              <a:t>of Sharpe removed
by the cost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114800"/>
            <a:ext cx="3291840" cy="13716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Rs12,995</a:t>
            </a:r>
          </a:p>
          <a:p>
            <a:pPr algn="ctr"/>
            <a:r>
              <a:rPr sz="1200">
                <a:solidFill>
                  <a:srgbClr val="CBD5E1"/>
                </a:solidFill>
                <a:latin typeface="Calibri"/>
              </a:rPr>
              <a:t>destroyed on
Rs1,00,000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291840" cy="13716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60%</a:t>
            </a:r>
          </a:p>
          <a:p>
            <a:pPr algn="ctr"/>
            <a:r>
              <a:rPr sz="1200">
                <a:solidFill>
                  <a:srgbClr val="CBD5E1"/>
                </a:solidFill>
                <a:latin typeface="Calibri"/>
              </a:rPr>
              <a:t>probability of
backtest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1">
                <a:solidFill>
                  <a:srgbClr val="CC0000"/>
                </a:solidFill>
                <a:latin typeface="Calibri"/>
              </a:rPr>
              <a:t>An honest backtesting tool does not tell you your idea works.
It tells you what your idea is actually worth.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5566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GTU DI05000341 · Pramaan · Aayush Bankar &amp; Meet Patel ·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