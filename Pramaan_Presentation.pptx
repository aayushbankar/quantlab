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371600"/>
            <a:ext cx="73152" cy="411480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37160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94A3B8"/>
                </a:solidFill>
                <a:latin typeface="Consolas"/>
              </a:rPr>
              <a:t>GUJARAT TECHNOLOGICAL UNIVERSITY  |  DI05000341 MINOR PROJECT DEFENSE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737360"/>
            <a:ext cx="9601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800" b="1">
                <a:solidFill>
                  <a:srgbClr val="F8FAFC"/>
                </a:solidFill>
                <a:latin typeface="Trebuchet MS"/>
              </a:rPr>
              <a:t>Pramaan (प्रमाण)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834640"/>
            <a:ext cx="9601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i="1">
                <a:solidFill>
                  <a:srgbClr val="38BDF8"/>
                </a:solidFill>
                <a:latin typeface="Georgia"/>
              </a:rPr>
              <a:t>Prove your edge before you deploy a rupee.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429000"/>
            <a:ext cx="9601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94A3B8"/>
                </a:solidFill>
                <a:latin typeface="Georgia"/>
              </a:rPr>
              <a:t>An event-driven backtesting engine for Indian equities that enforces zero-lookahead T+1 execution, statutory delivery costs (STT, Stamp Duty, GST, Exchange), and Deflated Sharpe / CPCV statistical overfitting verification.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4389120"/>
            <a:ext cx="4754880" cy="1188720"/>
          </a:xfrm>
          <a:prstGeom prst="rect">
            <a:avLst/>
          </a:prstGeom>
          <a:solidFill>
            <a:srgbClr val="131E36"/>
          </a:solidFill>
          <a:ln w="12700">
            <a:solidFill>
              <a:srgbClr val="2433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82880"/>
          <a:lstStyle/>
          <a:p>
            <a:pPr algn="ctr"/>
            <a:r>
              <a:rPr sz="1400" b="1">
                <a:solidFill>
                  <a:srgbClr val="F8FAFC"/>
                </a:solidFill>
                <a:latin typeface="Trebuchet MS"/>
              </a:rPr>
              <a:t>Aayush Avinash Bankar  (246230316006)</a:t>
            </a:r>
          </a:p>
          <a:p>
            <a:r>
              <a:rPr sz="1100">
                <a:solidFill>
                  <a:srgbClr val="94A3B8"/>
                </a:solidFill>
                <a:latin typeface="Georgia"/>
              </a:rPr>
              <a:t>Role: Core Engine Architecture, Statutory Cost Stack, Test Suite &amp; CI</a:t>
            </a:r>
          </a:p>
        </p:txBody>
      </p:sp>
      <p:sp>
        <p:nvSpPr>
          <p:cNvPr id="8" name="Rectangle 7"/>
          <p:cNvSpPr/>
          <p:nvPr/>
        </p:nvSpPr>
        <p:spPr>
          <a:xfrm>
            <a:off x="6035040" y="4389120"/>
            <a:ext cx="4754880" cy="1188720"/>
          </a:xfrm>
          <a:prstGeom prst="rect">
            <a:avLst/>
          </a:prstGeom>
          <a:solidFill>
            <a:srgbClr val="131E36"/>
          </a:solidFill>
          <a:ln w="12700">
            <a:solidFill>
              <a:srgbClr val="2433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82880"/>
          <a:lstStyle/>
          <a:p>
            <a:pPr algn="ctr"/>
            <a:r>
              <a:rPr sz="1400" b="1">
                <a:solidFill>
                  <a:srgbClr val="F8FAFC"/>
                </a:solidFill>
                <a:latin typeface="Trebuchet MS"/>
              </a:rPr>
              <a:t>Meet Jayeshbhai Patel  (246230316133)</a:t>
            </a:r>
          </a:p>
          <a:p>
            <a:r>
              <a:rPr sz="1100">
                <a:solidFill>
                  <a:srgbClr val="94A3B8"/>
                </a:solidFill>
                <a:latin typeface="Georgia"/>
              </a:rPr>
              <a:t>Role: Analytics UI &amp; Tauri Packaging, Academic Documentation &amp; Defense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594360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4A3B8"/>
                </a:solidFill>
                <a:latin typeface="Consolas"/>
              </a:rPr>
              <a:t>Empirical Ground Truth: 30 deterministic runs across 10 NIFTY-50 symbols (2019-01-01..2024-12-31) | 72 Passing Pytests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1">
                <a:solidFill>
                  <a:srgbClr val="64748B"/>
                </a:solidFill>
                <a:latin typeface="Consolas"/>
              </a:rPr>
              <a:t>UNIT 1: LITERATURE REVIEW &amp; 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91440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200" b="1">
                <a:solidFill>
                  <a:srgbClr val="132A52"/>
                </a:solidFill>
                <a:latin typeface="Trebuchet MS"/>
              </a:rPr>
              <a:t>Why Retail Backtests Lie: Three Structural Deceptions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11480"/>
            <a:ext cx="13716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1">
                <a:solidFill>
                  <a:srgbClr val="64748B"/>
                </a:solidFill>
                <a:latin typeface="Consolas"/>
              </a:rPr>
              <a:t>02 / 10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554480"/>
            <a:ext cx="342900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/>
          <a:lstStyle/>
          <a:p>
            <a:pPr algn="ctr"/>
            <a:r>
              <a:rPr sz="1000" b="1">
                <a:solidFill>
                  <a:srgbClr val="B91C1C"/>
                </a:solidFill>
                <a:latin typeface="Consolas"/>
              </a:rPr>
              <a:t>01 / Synthetic Execution Bias</a:t>
            </a:r>
          </a:p>
          <a:p>
            <a:pPr>
              <a:spcBef>
                <a:spcPts val="600"/>
              </a:spcBef>
            </a:pPr>
            <a:r>
              <a:rPr sz="1500" b="1">
                <a:solidFill>
                  <a:srgbClr val="132A52"/>
                </a:solidFill>
                <a:latin typeface="Trebuchet MS"/>
              </a:rPr>
              <a:t>Lookahead &amp; Same-Bar Fills</a:t>
            </a:r>
          </a:p>
          <a:p>
            <a:pPr>
              <a:spcBef>
                <a:spcPts val="1000"/>
              </a:spcBef>
            </a:pPr>
            <a:r>
              <a:rPr sz="1100">
                <a:solidFill>
                  <a:srgbClr val="0F172A"/>
                </a:solidFill>
                <a:latin typeface="Georgia"/>
              </a:rPr>
              <a:t>Most platforms generate a signal on bar t close and execute at bar t close. In reality, market orders execute on bar t+1 open, and limit orders execute only on pessimistic trade-through.</a:t>
            </a:r>
          </a:p>
          <a:p>
            <a:pPr>
              <a:spcBef>
                <a:spcPts val="1400"/>
              </a:spcBef>
            </a:pPr>
            <a:r>
              <a:rPr sz="1100" b="1">
                <a:solidFill>
                  <a:srgbClr val="047857"/>
                </a:solidFill>
                <a:latin typeface="Georgia"/>
              </a:rPr>
              <a:t>Pramaan: Event clock enforces bar t Close signal -&gt; bar t+1 Open fill.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1554480"/>
            <a:ext cx="342900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/>
          <a:lstStyle/>
          <a:p>
            <a:pPr algn="ctr"/>
            <a:r>
              <a:rPr sz="1000" b="1">
                <a:solidFill>
                  <a:srgbClr val="B91C1C"/>
                </a:solidFill>
                <a:latin typeface="Consolas"/>
              </a:rPr>
              <a:t>02 / The Statutory Blindspot</a:t>
            </a:r>
          </a:p>
          <a:p>
            <a:pPr>
              <a:spcBef>
                <a:spcPts val="600"/>
              </a:spcBef>
            </a:pPr>
            <a:r>
              <a:rPr sz="1500" b="1">
                <a:solidFill>
                  <a:srgbClr val="132A52"/>
                </a:solidFill>
                <a:latin typeface="Trebuchet MS"/>
              </a:rPr>
              <a:t>Omission of Indian Friction</a:t>
            </a:r>
          </a:p>
          <a:p>
            <a:pPr>
              <a:spcBef>
                <a:spcPts val="1000"/>
              </a:spcBef>
            </a:pPr>
            <a:r>
              <a:rPr sz="1100">
                <a:solidFill>
                  <a:srgbClr val="0F172A"/>
                </a:solidFill>
                <a:latin typeface="Georgia"/>
              </a:rPr>
              <a:t>Backtests frequently report gross returns. In India, STT (0.1%), stamp duty (0.015%), GST (18%), and exchange turnover consume substantial alpha on active turnover.</a:t>
            </a:r>
          </a:p>
          <a:p>
            <a:pPr>
              <a:spcBef>
                <a:spcPts val="1400"/>
              </a:spcBef>
            </a:pPr>
            <a:r>
              <a:rPr sz="1100" b="1">
                <a:solidFill>
                  <a:srgbClr val="047857"/>
                </a:solidFill>
                <a:latin typeface="Georgia"/>
              </a:rPr>
              <a:t>Pramaan: Full statutory cost stack + Almgren-Chriss market impact.</a:t>
            </a:r>
          </a:p>
        </p:txBody>
      </p:sp>
      <p:sp>
        <p:nvSpPr>
          <p:cNvPr id="8" name="Rectangle 7"/>
          <p:cNvSpPr/>
          <p:nvPr/>
        </p:nvSpPr>
        <p:spPr>
          <a:xfrm>
            <a:off x="8046720" y="1554480"/>
            <a:ext cx="342900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/>
          <a:lstStyle/>
          <a:p>
            <a:pPr algn="ctr"/>
            <a:r>
              <a:rPr sz="1000" b="1">
                <a:solidFill>
                  <a:srgbClr val="B91C1C"/>
                </a:solidFill>
                <a:latin typeface="Consolas"/>
              </a:rPr>
              <a:t>03 / Selection Bias &amp; Overfitting</a:t>
            </a:r>
          </a:p>
          <a:p>
            <a:pPr>
              <a:spcBef>
                <a:spcPts val="600"/>
              </a:spcBef>
            </a:pPr>
            <a:r>
              <a:rPr sz="1500" b="1">
                <a:solidFill>
                  <a:srgbClr val="132A52"/>
                </a:solidFill>
                <a:latin typeface="Trebuchet MS"/>
              </a:rPr>
              <a:t>P-Hacking &amp; Multiple Testing</a:t>
            </a:r>
          </a:p>
          <a:p>
            <a:pPr>
              <a:spcBef>
                <a:spcPts val="1000"/>
              </a:spcBef>
            </a:pPr>
            <a:r>
              <a:rPr sz="1100">
                <a:solidFill>
                  <a:srgbClr val="0F172A"/>
                </a:solidFill>
                <a:latin typeface="Georgia"/>
              </a:rPr>
              <a:t>Testing dozens of parameter combinations and presenting only the best equity curve guarantees false discoveries that rapidly collapse out-of-sample.</a:t>
            </a:r>
          </a:p>
          <a:p>
            <a:pPr>
              <a:spcBef>
                <a:spcPts val="1400"/>
              </a:spcBef>
            </a:pPr>
            <a:r>
              <a:rPr sz="1100" b="1">
                <a:solidFill>
                  <a:srgbClr val="047857"/>
                </a:solidFill>
                <a:latin typeface="Georgia"/>
              </a:rPr>
              <a:t>Pramaan: Deflated Sharpe Ratio (DSR) &amp; CPCV with purge and embargo.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5577840"/>
            <a:ext cx="10728655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132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/>
            <a:r>
              <a:rPr sz="1300" b="1">
                <a:solidFill>
                  <a:srgbClr val="132A52"/>
                </a:solidFill>
                <a:latin typeface="Georgia"/>
              </a:rPr>
              <a:t>Core Thesis: A profitable backtest is not evidence of an edge. An honest tool measures whether a strategy survives reality.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64748B"/>
                </a:solidFill>
                <a:latin typeface="Consolas"/>
              </a:rPr>
              <a:t>GTU DI05000341 Minor Project | Pramaan Architecture &amp; Verification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1">
                <a:solidFill>
                  <a:srgbClr val="64748B"/>
                </a:solidFill>
                <a:latin typeface="Consolas"/>
              </a:rPr>
              <a:t>UNIT 2: SYSTEM SPECIFICATIONS &amp; INDIAN MARKET MICROSTRUCTURE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91440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200" b="1">
                <a:solidFill>
                  <a:srgbClr val="132A52"/>
                </a:solidFill>
                <a:latin typeface="Trebuchet MS"/>
              </a:rPr>
              <a:t>The Indian Delivery Cost Stack: Statutory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11480"/>
            <a:ext cx="13716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1">
                <a:solidFill>
                  <a:srgbClr val="64748B"/>
                </a:solidFill>
                <a:latin typeface="Consolas"/>
              </a:rPr>
              <a:t>03 / 10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554480"/>
          <a:ext cx="62179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137160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8FAFC"/>
                          </a:solidFill>
                          <a:latin typeface="Trebuchet MS"/>
                        </a:rPr>
                        <a:t>Cost Component</a:t>
                      </a:r>
                    </a:p>
                  </a:txBody>
                  <a:tcPr>
                    <a:solidFill>
                      <a:srgbClr val="132A5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8FAFC"/>
                          </a:solidFill>
                          <a:latin typeface="Trebuchet MS"/>
                        </a:rPr>
                        <a:t>Applicable Rate</a:t>
                      </a:r>
                    </a:p>
                  </a:txBody>
                  <a:tcPr>
                    <a:solidFill>
                      <a:srgbClr val="132A5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8FAFC"/>
                          </a:solidFill>
                          <a:latin typeface="Trebuchet MS"/>
                        </a:rPr>
                        <a:t>Side Applied</a:t>
                      </a:r>
                    </a:p>
                  </a:txBody>
                  <a:tcPr>
                    <a:solidFill>
                      <a:srgbClr val="132A5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8FAFC"/>
                          </a:solidFill>
                          <a:latin typeface="Trebuchet MS"/>
                        </a:rPr>
                        <a:t>Authority</a:t>
                      </a:r>
                    </a:p>
                  </a:txBody>
                  <a:tcPr>
                    <a:solidFill>
                      <a:srgbClr val="132A5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F172A"/>
                          </a:solidFill>
                          <a:latin typeface="Georgia"/>
                        </a:rPr>
                        <a:t>Securities Transaction Tax (STT)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F172A"/>
                          </a:solidFill>
                          <a:latin typeface="Consolas"/>
                        </a:rPr>
                        <a:t>0.100%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F172A"/>
                          </a:solidFill>
                          <a:latin typeface="Georgia"/>
                        </a:rPr>
                        <a:t>Buy &amp; Sell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F172A"/>
                          </a:solidFill>
                          <a:latin typeface="Georgia"/>
                        </a:rPr>
                        <a:t>Govt. of India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F172A"/>
                          </a:solidFill>
                          <a:latin typeface="Georgia"/>
                        </a:rPr>
                        <a:t>Stamp Duty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F172A"/>
                          </a:solidFill>
                          <a:latin typeface="Consolas"/>
                        </a:rPr>
                        <a:t>0.015%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F172A"/>
                          </a:solidFill>
                          <a:latin typeface="Georgia"/>
                        </a:rPr>
                        <a:t>Buy Leg Only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F172A"/>
                          </a:solidFill>
                          <a:latin typeface="Georgia"/>
                        </a:rPr>
                        <a:t>Indian Stamp Act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F172A"/>
                          </a:solidFill>
                          <a:latin typeface="Georgia"/>
                        </a:rPr>
                        <a:t>Exchange Turnover Charges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F172A"/>
                          </a:solidFill>
                          <a:latin typeface="Consolas"/>
                        </a:rPr>
                        <a:t>0.00297%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F172A"/>
                          </a:solidFill>
                          <a:latin typeface="Georgia"/>
                        </a:rPr>
                        <a:t>Buy &amp; Sell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F172A"/>
                          </a:solidFill>
                          <a:latin typeface="Georgia"/>
                        </a:rPr>
                        <a:t>NSE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F172A"/>
                          </a:solidFill>
                          <a:latin typeface="Georgia"/>
                        </a:rPr>
                        <a:t>SEBI Regulatory Fee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F172A"/>
                          </a:solidFill>
                          <a:latin typeface="Consolas"/>
                        </a:rPr>
                        <a:t>0.00010%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F172A"/>
                          </a:solidFill>
                          <a:latin typeface="Georgia"/>
                        </a:rPr>
                        <a:t>Buy &amp; Sell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F172A"/>
                          </a:solidFill>
                          <a:latin typeface="Georgia"/>
                        </a:rPr>
                        <a:t>SEBI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F172A"/>
                          </a:solidFill>
                          <a:latin typeface="Georgia"/>
                        </a:rPr>
                        <a:t>Goods &amp; Services Tax (GST)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F172A"/>
                          </a:solidFill>
                          <a:latin typeface="Consolas"/>
                        </a:rPr>
                        <a:t>18.000%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F172A"/>
                          </a:solidFill>
                          <a:latin typeface="Georgia"/>
                        </a:rPr>
                        <a:t>On Brokerage+Exch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F172A"/>
                          </a:solidFill>
                          <a:latin typeface="Georgia"/>
                        </a:rPr>
                        <a:t>CBIC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223760" y="1554480"/>
            <a:ext cx="4236415" cy="4480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/>
            <a:r>
              <a:rPr sz="1600" b="1">
                <a:solidFill>
                  <a:srgbClr val="132A52"/>
                </a:solidFill>
                <a:latin typeface="Trebuchet MS"/>
              </a:rPr>
              <a:t>Microstructure Invariants</a:t>
            </a:r>
          </a:p>
          <a:p>
            <a:pPr>
              <a:spcBef>
                <a:spcPts val="1200"/>
              </a:spcBef>
            </a:pPr>
            <a:r>
              <a:rPr sz="1200" b="1">
                <a:solidFill>
                  <a:srgbClr val="B91C1C"/>
                </a:solidFill>
                <a:latin typeface="Trebuchet MS"/>
              </a:rPr>
              <a:t>Non-Linear Slippage (Almgren-Chriss)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F172A"/>
                </a:solidFill>
                <a:latin typeface="Georgia"/>
              </a:rPr>
              <a:t>Slippage is modeled via square-root market impact: η = σ * √(Q / V). Large order sizing scales friction quadratically with liquidity.</a:t>
            </a:r>
          </a:p>
          <a:p>
            <a:pPr>
              <a:spcBef>
                <a:spcPts val="1200"/>
              </a:spcBef>
            </a:pPr>
            <a:r>
              <a:rPr sz="1200" b="1">
                <a:solidFill>
                  <a:srgbClr val="B91C1C"/>
                </a:solidFill>
                <a:latin typeface="Trebuchet MS"/>
              </a:rPr>
              <a:t>Turnover Tax Asymmetry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F172A"/>
                </a:solidFill>
                <a:latin typeface="Georgia"/>
              </a:rPr>
              <a:t>High-frequency rebalancing (e.g. RSI, short SMA) generates recurring STT and turnover drag that compounds negatively over multi-year horizons.</a:t>
            </a:r>
          </a:p>
          <a:p>
            <a:pPr>
              <a:spcBef>
                <a:spcPts val="1200"/>
              </a:spcBef>
            </a:pPr>
            <a:r>
              <a:rPr sz="1200" b="1">
                <a:solidFill>
                  <a:srgbClr val="B91C1C"/>
                </a:solidFill>
                <a:latin typeface="Trebuchet MS"/>
              </a:rPr>
              <a:t>Delivery vs Intraday Reality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F172A"/>
                </a:solidFill>
                <a:latin typeface="Georgia"/>
              </a:rPr>
              <a:t>Delivery equity positions carry 0.1% STT on both legs, making naive trend-following significantly more expensive than US market equities.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120640"/>
            <a:ext cx="6217920" cy="914400"/>
          </a:xfrm>
          <a:prstGeom prst="rect">
            <a:avLst/>
          </a:prstGeom>
          <a:solidFill>
            <a:srgbClr val="FEF2F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/>
          <a:lstStyle/>
          <a:p>
            <a:pPr algn="ctr"/>
            <a:r>
              <a:rPr sz="1150" b="1">
                <a:solidFill>
                  <a:srgbClr val="B91C1C"/>
                </a:solidFill>
                <a:latin typeface="Georgia"/>
              </a:rPr>
              <a:t>Impact on Delivery: Statutory friction eliminates 30% to 50% of nominal gross gains on typical active equity strategies.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64748B"/>
                </a:solidFill>
                <a:latin typeface="Consolas"/>
              </a:rPr>
              <a:t>GTU DI05000341 Minor Project | Pramaan Architecture &amp; Verification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1">
                <a:solidFill>
                  <a:srgbClr val="64748B"/>
                </a:solidFill>
                <a:latin typeface="Consolas"/>
              </a:rPr>
              <a:t>UNIT 3: IMPLEMENTATION &amp; SOFTWARE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91440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200" b="1">
                <a:solidFill>
                  <a:srgbClr val="132A52"/>
                </a:solidFill>
                <a:latin typeface="Trebuchet MS"/>
              </a:rPr>
              <a:t>Engine Architecture: Modular, Decoupled &amp; Zero Lookahead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11480"/>
            <a:ext cx="13716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1">
                <a:solidFill>
                  <a:srgbClr val="64748B"/>
                </a:solidFill>
                <a:latin typeface="Consolas"/>
              </a:rPr>
              <a:t>04 / 10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554480"/>
            <a:ext cx="10728655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/>
            <a:r>
              <a:rPr sz="1300" b="1">
                <a:solidFill>
                  <a:srgbClr val="132A52"/>
                </a:solidFill>
                <a:latin typeface="Trebuchet MS"/>
              </a:rPr>
              <a:t>Layer 5 / Presentation Layer  —  </a:t>
            </a:r>
            <a:r>
              <a:rPr sz="1100">
                <a:solidFill>
                  <a:srgbClr val="64748B"/>
                </a:solidFill>
                <a:latin typeface="Georgia"/>
              </a:rPr>
              <a:t>Next.js 15 UI + Tauri Desktop Binary + Streamlit Fallback + CLI Interface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423160"/>
            <a:ext cx="10728655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/>
            <a:r>
              <a:rPr sz="1300" b="1">
                <a:solidFill>
                  <a:srgbClr val="132A52"/>
                </a:solidFill>
                <a:latin typeface="Trebuchet MS"/>
              </a:rPr>
              <a:t>Layer 4 / Service &amp; API Layer  —  </a:t>
            </a:r>
            <a:r>
              <a:rPr sz="1100">
                <a:solidFill>
                  <a:srgbClr val="64748B"/>
                </a:solidFill>
                <a:latin typeface="Georgia"/>
              </a:rPr>
              <a:t>FastAPI REST Endpoints: /api/v1/backtest/run, /api/v1/strategies, /api/v1/datasets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3291839"/>
            <a:ext cx="10728655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/>
            <a:r>
              <a:rPr sz="1300" b="1">
                <a:solidFill>
                  <a:srgbClr val="132A52"/>
                </a:solidFill>
                <a:latin typeface="Trebuchet MS"/>
              </a:rPr>
              <a:t>Layer 3 / Analytics &amp; Validation  —  </a:t>
            </a:r>
            <a:r>
              <a:rPr sz="1100">
                <a:solidFill>
                  <a:srgbClr val="64748B"/>
                </a:solidFill>
                <a:latin typeface="Georgia"/>
              </a:rPr>
              <a:t>Marcos López de Prado DSR, PSR, Combinatorial Purged Cross-Validation (CPCV) with Embargo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160520"/>
            <a:ext cx="10728655" cy="749808"/>
          </a:xfrm>
          <a:prstGeom prst="rect">
            <a:avLst/>
          </a:prstGeom>
          <a:solidFill>
            <a:srgbClr val="0F172A"/>
          </a:solidFill>
          <a:ln w="19050">
            <a:solidFill>
              <a:srgbClr val="132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/>
            <a:r>
              <a:rPr sz="1300" b="1">
                <a:solidFill>
                  <a:srgbClr val="38BDF8"/>
                </a:solidFill>
                <a:latin typeface="Trebuchet MS"/>
              </a:rPr>
              <a:t>Layer 2 / Core Execution Engine  [GTU Contribution]  —  </a:t>
            </a:r>
            <a:r>
              <a:rPr sz="1100">
                <a:solidFill>
                  <a:srgbClr val="F8FAFC"/>
                </a:solidFill>
                <a:latin typeface="Georgia"/>
              </a:rPr>
              <a:t>BacktestEngine, Portfolio State, Position Ledger, IndianCostModel (Zero-Lookahead Invariant)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5029200"/>
            <a:ext cx="10728655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/>
            <a:r>
              <a:rPr sz="1300" b="1">
                <a:solidFill>
                  <a:srgbClr val="132A52"/>
                </a:solidFill>
                <a:latin typeface="Trebuchet MS"/>
              </a:rPr>
              <a:t>Layer 1 / Data Pipeline &amp; Universe  —  </a:t>
            </a:r>
            <a:r>
              <a:rPr sz="1100">
                <a:solidFill>
                  <a:srgbClr val="64748B"/>
                </a:solidFill>
                <a:latin typeface="Georgia"/>
              </a:rPr>
              <a:t>Parquet / SQLite Local Cache, NIFTY-50 Universe, Historical Date Alignment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5989320"/>
            <a:ext cx="1072865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/>
          <a:lstStyle/>
          <a:p>
            <a:pPr algn="ctr"/>
            <a:r>
              <a:rPr sz="950">
                <a:solidFill>
                  <a:srgbClr val="64748B"/>
                </a:solidFill>
                <a:latin typeface="Consolas"/>
              </a:rPr>
              <a:t>Architectural Invariant: Engine operates headless without UI dependencies. Same parameter payload -&gt; byte-identical SHA-256 run hash.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64748B"/>
                </a:solidFill>
                <a:latin typeface="Consolas"/>
              </a:rPr>
              <a:t>GTU DI05000341 Minor Project | Pramaan Architecture &amp; Verification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1">
                <a:solidFill>
                  <a:srgbClr val="64748B"/>
                </a:solidFill>
                <a:latin typeface="Consolas"/>
              </a:rPr>
              <a:t>UNIT 3: EMPIRICAL FINDINGS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91440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200" b="1">
                <a:solidFill>
                  <a:srgbClr val="132A52"/>
                </a:solidFill>
                <a:latin typeface="Trebuchet MS"/>
              </a:rPr>
              <a:t>Empirical Results: 10 NSE Symbols, 2019–2024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11480"/>
            <a:ext cx="13716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1">
                <a:solidFill>
                  <a:srgbClr val="64748B"/>
                </a:solidFill>
                <a:latin typeface="Consolas"/>
              </a:rPr>
              <a:t>05 / 10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554480"/>
          <a:ext cx="10728655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13455"/>
                <a:gridCol w="1828800"/>
                <a:gridCol w="1828800"/>
                <a:gridCol w="1828800"/>
                <a:gridCol w="1828800"/>
              </a:tblGrid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8FAFC"/>
                          </a:solidFill>
                          <a:latin typeface="Trebuchet MS"/>
                        </a:rPr>
                        <a:t>Strategy / Benchmark</a:t>
                      </a:r>
                    </a:p>
                  </a:txBody>
                  <a:tcPr>
                    <a:solidFill>
                      <a:srgbClr val="132A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8FAFC"/>
                          </a:solidFill>
                          <a:latin typeface="Trebuchet MS"/>
                        </a:rPr>
                        <a:t>Sharpe Ratio</a:t>
                      </a:r>
                    </a:p>
                  </a:txBody>
                  <a:tcPr>
                    <a:solidFill>
                      <a:srgbClr val="132A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8FAFC"/>
                          </a:solidFill>
                          <a:latin typeface="Trebuchet MS"/>
                        </a:rPr>
                        <a:t>CAGR (%)</a:t>
                      </a:r>
                    </a:p>
                  </a:txBody>
                  <a:tcPr>
                    <a:solidFill>
                      <a:srgbClr val="132A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8FAFC"/>
                          </a:solidFill>
                          <a:latin typeface="Trebuchet MS"/>
                        </a:rPr>
                        <a:t>Total Return (%)</a:t>
                      </a:r>
                    </a:p>
                  </a:txBody>
                  <a:tcPr>
                    <a:solidFill>
                      <a:srgbClr val="132A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8FAFC"/>
                          </a:solidFill>
                          <a:latin typeface="Trebuchet MS"/>
                        </a:rPr>
                        <a:t>Max Drawdown (%)</a:t>
                      </a:r>
                    </a:p>
                  </a:txBody>
                  <a:tcPr>
                    <a:solidFill>
                      <a:srgbClr val="132A52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F172A"/>
                          </a:solidFill>
                          <a:latin typeface="Georgia"/>
                        </a:rPr>
                        <a:t>SMA Crossover (20, 50)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  <a:latin typeface="Consolas"/>
                        </a:rPr>
                        <a:t>0.527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  <a:latin typeface="Consolas"/>
                        </a:rPr>
                        <a:t>11.37%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  <a:latin typeface="Consolas"/>
                        </a:rPr>
                        <a:t>88.2%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  <a:latin typeface="Consolas"/>
                        </a:rPr>
                        <a:t>-14.8%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F172A"/>
                          </a:solidFill>
                          <a:latin typeface="Georgia"/>
                        </a:rPr>
                        <a:t>SMA Crossover (10, 30)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  <a:latin typeface="Consolas"/>
                        </a:rPr>
                        <a:t>0.685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  <a:latin typeface="Consolas"/>
                        </a:rPr>
                        <a:t>13.25%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  <a:latin typeface="Consolas"/>
                        </a:rPr>
                        <a:t>107.7%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  <a:latin typeface="Consolas"/>
                        </a:rPr>
                        <a:t>-14.6%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F172A"/>
                          </a:solidFill>
                          <a:latin typeface="Georgia"/>
                        </a:rPr>
                        <a:t>RSI Mean Reversion (14, 30, 70)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  <a:latin typeface="Consolas"/>
                        </a:rPr>
                        <a:t>0.307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  <a:latin typeface="Consolas"/>
                        </a:rPr>
                        <a:t>9.80%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  <a:latin typeface="Consolas"/>
                        </a:rPr>
                        <a:t>73.1%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  <a:latin typeface="Consolas"/>
                        </a:rPr>
                        <a:t>-32.8%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F172A"/>
                          </a:solidFill>
                          <a:latin typeface="Georgia"/>
                        </a:rPr>
                        <a:t>Momentum Lookback (20)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  <a:latin typeface="Consolas"/>
                        </a:rPr>
                        <a:t>0.186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  <a:latin typeface="Consolas"/>
                        </a:rPr>
                        <a:t>7.43%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  <a:latin typeface="Consolas"/>
                        </a:rPr>
                        <a:t>52.4%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  <a:latin typeface="Consolas"/>
                        </a:rPr>
                        <a:t>-10.3%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8FAFC"/>
                          </a:solidFill>
                          <a:latin typeface="Trebuchet MS"/>
                        </a:rPr>
                        <a:t>Buy-and-Hold Benchmark (Equal-Weight)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8FAFC"/>
                          </a:solidFill>
                          <a:latin typeface="Consolas"/>
                        </a:rPr>
                        <a:t>0.746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8FAFC"/>
                          </a:solidFill>
                          <a:latin typeface="Consolas"/>
                        </a:rPr>
                        <a:t>19.07%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8FAFC"/>
                          </a:solidFill>
                          <a:latin typeface="Consolas"/>
                        </a:rPr>
                        <a:t>178.8%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8FAFC"/>
                          </a:solidFill>
                          <a:latin typeface="Consolas"/>
                        </a:rPr>
                        <a:t>-32.9%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31520" y="4709160"/>
            <a:ext cx="10728655" cy="1280160"/>
          </a:xfrm>
          <a:prstGeom prst="rect">
            <a:avLst/>
          </a:prstGeom>
          <a:solidFill>
            <a:srgbClr val="FFFBEB"/>
          </a:solidFill>
          <a:ln w="1524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182880"/>
          <a:lstStyle/>
          <a:p>
            <a:pPr algn="ctr"/>
            <a:r>
              <a:rPr sz="1400" b="1">
                <a:solidFill>
                  <a:srgbClr val="B45309"/>
                </a:solidFill>
                <a:latin typeface="Trebuchet MS"/>
              </a:rPr>
              <a:t>Key Empirical Verdict: 0 of 4 Active Strategies Beat Passive Ownership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F172A"/>
                </a:solidFill>
                <a:latin typeface="Georgia"/>
              </a:rPr>
              <a:t>The best active performer (rsi mean reversion) achieved Sharpe 0.812, remaining +0.066 below the passive buy-and-hold benchmark (0.746).
Conclusion: Under realistic Indian friction and T+1 execution, retail active equity alpha is negative.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64748B"/>
                </a:solidFill>
                <a:latin typeface="Consolas"/>
              </a:rPr>
              <a:t>GTU DI05000341 Minor Project | Pramaan Architecture &amp; Verification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1">
                <a:solidFill>
                  <a:srgbClr val="64748B"/>
                </a:solidFill>
                <a:latin typeface="Consolas"/>
              </a:rPr>
              <a:t>UNIT 3: MICROSTRUCTURE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91440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200" b="1">
                <a:solidFill>
                  <a:srgbClr val="132A52"/>
                </a:solidFill>
                <a:latin typeface="Trebuchet MS"/>
              </a:rPr>
              <a:t>The Profit Mirage: How Friction Destroys Edge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11480"/>
            <a:ext cx="13716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1">
                <a:solidFill>
                  <a:srgbClr val="64748B"/>
                </a:solidFill>
                <a:latin typeface="Consolas"/>
              </a:rPr>
              <a:t>06 / 10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rofit_mi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11502463" cy="42062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772400" y="1554480"/>
            <a:ext cx="3687775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/>
          <a:lstStyle/>
          <a:p>
            <a:pPr algn="ctr"/>
            <a:r>
              <a:rPr sz="1500" b="1">
                <a:solidFill>
                  <a:srgbClr val="132A52"/>
                </a:solidFill>
                <a:latin typeface="Trebuchet MS"/>
              </a:rPr>
              <a:t>Momentum (20) Case Study</a:t>
            </a:r>
          </a:p>
          <a:p>
            <a:pPr>
              <a:spcBef>
                <a:spcPts val="800"/>
              </a:spcBef>
            </a:pPr>
            <a:r>
              <a:rPr sz="900">
                <a:solidFill>
                  <a:srgbClr val="64748B"/>
                </a:solidFill>
                <a:latin typeface="Consolas"/>
              </a:rPr>
              <a:t>NOMINAL GROSS SHARPE</a:t>
            </a:r>
          </a:p>
          <a:p>
            <a:r>
              <a:rPr sz="1400" b="1">
                <a:solidFill>
                  <a:srgbClr val="0F172A"/>
                </a:solidFill>
                <a:latin typeface="Consolas"/>
              </a:rPr>
              <a:t>0.359</a:t>
            </a:r>
          </a:p>
          <a:p>
            <a:pPr>
              <a:spcBef>
                <a:spcPts val="800"/>
              </a:spcBef>
            </a:pPr>
            <a:r>
              <a:rPr sz="900">
                <a:solidFill>
                  <a:srgbClr val="64748B"/>
                </a:solidFill>
                <a:latin typeface="Consolas"/>
              </a:rPr>
              <a:t>NET REALIZED SHARPE</a:t>
            </a:r>
          </a:p>
          <a:p>
            <a:r>
              <a:rPr sz="1400" b="1">
                <a:solidFill>
                  <a:srgbClr val="B91C1C"/>
                </a:solidFill>
                <a:latin typeface="Consolas"/>
              </a:rPr>
              <a:t>0.186</a:t>
            </a:r>
          </a:p>
          <a:p>
            <a:pPr>
              <a:spcBef>
                <a:spcPts val="800"/>
              </a:spcBef>
            </a:pPr>
            <a:r>
              <a:rPr sz="900">
                <a:solidFill>
                  <a:srgbClr val="64748B"/>
                </a:solidFill>
                <a:latin typeface="Consolas"/>
              </a:rPr>
              <a:t>SHARPE DESTRUCTION</a:t>
            </a:r>
          </a:p>
          <a:p>
            <a:r>
              <a:rPr sz="1400" b="1">
                <a:solidFill>
                  <a:srgbClr val="B91C1C"/>
                </a:solidFill>
                <a:latin typeface="Consolas"/>
              </a:rPr>
              <a:t>48.2%</a:t>
            </a:r>
          </a:p>
          <a:p>
            <a:pPr>
              <a:spcBef>
                <a:spcPts val="800"/>
              </a:spcBef>
            </a:pPr>
            <a:r>
              <a:rPr sz="900">
                <a:solidFill>
                  <a:srgbClr val="64748B"/>
                </a:solidFill>
                <a:latin typeface="Consolas"/>
              </a:rPr>
              <a:t>GROSS FINAL EQUITY</a:t>
            </a:r>
          </a:p>
          <a:p>
            <a:r>
              <a:rPr sz="1400" b="1">
                <a:solidFill>
                  <a:srgbClr val="0F172A"/>
                </a:solidFill>
                <a:latin typeface="Consolas"/>
              </a:rPr>
              <a:t>Rs 165,368</a:t>
            </a:r>
          </a:p>
          <a:p>
            <a:pPr>
              <a:spcBef>
                <a:spcPts val="800"/>
              </a:spcBef>
            </a:pPr>
            <a:r>
              <a:rPr sz="900">
                <a:solidFill>
                  <a:srgbClr val="64748B"/>
                </a:solidFill>
                <a:latin typeface="Consolas"/>
              </a:rPr>
              <a:t>NET FINAL EQUITY</a:t>
            </a:r>
          </a:p>
          <a:p>
            <a:r>
              <a:rPr sz="1400" b="1">
                <a:solidFill>
                  <a:srgbClr val="0F172A"/>
                </a:solidFill>
                <a:latin typeface="Consolas"/>
              </a:rPr>
              <a:t>Rs 152,373</a:t>
            </a:r>
          </a:p>
          <a:p>
            <a:pPr>
              <a:spcBef>
                <a:spcPts val="800"/>
              </a:spcBef>
            </a:pPr>
            <a:r>
              <a:rPr sz="900">
                <a:solidFill>
                  <a:srgbClr val="64748B"/>
                </a:solidFill>
                <a:latin typeface="Consolas"/>
              </a:rPr>
              <a:t>TOTAL CAPITAL DESTROYED</a:t>
            </a:r>
          </a:p>
          <a:p>
            <a:r>
              <a:rPr sz="1400" b="1">
                <a:solidFill>
                  <a:srgbClr val="B91C1C"/>
                </a:solidFill>
                <a:latin typeface="Consolas"/>
              </a:rPr>
              <a:t>Rs 12,995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64748B"/>
                </a:solidFill>
                <a:latin typeface="Consolas"/>
              </a:rPr>
              <a:t>GTU DI05000341 Minor Project | Pramaan Architecture &amp; Verification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1">
                <a:solidFill>
                  <a:srgbClr val="64748B"/>
                </a:solidFill>
                <a:latin typeface="Consolas"/>
              </a:rPr>
              <a:t>UNIT 4: OVERFITTING DIAGNOSTIC FRAMEWORK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91440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200" b="1">
                <a:solidFill>
                  <a:srgbClr val="132A52"/>
                </a:solidFill>
                <a:latin typeface="Trebuchet MS"/>
              </a:rPr>
              <a:t>Statistical Validation: In-Sample vs Out-of-Sample Decay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11480"/>
            <a:ext cx="13716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1">
                <a:solidFill>
                  <a:srgbClr val="64748B"/>
                </a:solidFill>
                <a:latin typeface="Consolas"/>
              </a:rPr>
              <a:t>07 / 10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oos_dec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10472679" cy="42062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772400" y="1554480"/>
            <a:ext cx="3687775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/>
          <a:lstStyle/>
          <a:p>
            <a:pPr algn="ctr"/>
            <a:r>
              <a:rPr sz="1500" b="1">
                <a:solidFill>
                  <a:srgbClr val="132A52"/>
                </a:solidFill>
                <a:latin typeface="Trebuchet MS"/>
              </a:rPr>
              <a:t>Probability of Overfitting</a:t>
            </a:r>
          </a:p>
          <a:p>
            <a:pPr>
              <a:spcBef>
                <a:spcPts val="1200"/>
              </a:spcBef>
            </a:pPr>
            <a:r>
              <a:rPr sz="3600" b="1">
                <a:solidFill>
                  <a:srgbClr val="B91C1C"/>
                </a:solidFill>
                <a:latin typeface="Consolas"/>
              </a:rPr>
              <a:t>60.0%</a:t>
            </a:r>
          </a:p>
          <a:p>
            <a:r>
              <a:rPr sz="950">
                <a:solidFill>
                  <a:srgbClr val="64748B"/>
                </a:solidFill>
                <a:latin typeface="Consolas"/>
              </a:rPr>
              <a:t>95% CI: [44.4%, 73.3%]
(133 configs, 45 CPCV paths)</a:t>
            </a:r>
          </a:p>
          <a:p>
            <a:pPr>
              <a:spcBef>
                <a:spcPts val="1000"/>
              </a:spcBef>
            </a:pPr>
            <a:r>
              <a:rPr sz="1050">
                <a:solidFill>
                  <a:srgbClr val="0F172A"/>
                </a:solidFill>
                <a:latin typeface="Georgia"/>
              </a:rPr>
              <a:t>• Momentum Sharpe decays 52% from IS to OOS</a:t>
            </a:r>
          </a:p>
          <a:p>
            <a:pPr>
              <a:spcBef>
                <a:spcPts val="1000"/>
              </a:spcBef>
            </a:pPr>
            <a:r>
              <a:rPr sz="1050">
                <a:solidFill>
                  <a:srgbClr val="0F172A"/>
                </a:solidFill>
                <a:latin typeface="Georgia"/>
              </a:rPr>
              <a:t>• SMA Crossover decays 31% across test folds</a:t>
            </a:r>
          </a:p>
          <a:p>
            <a:pPr>
              <a:spcBef>
                <a:spcPts val="1000"/>
              </a:spcBef>
            </a:pPr>
            <a:r>
              <a:rPr sz="1050">
                <a:solidFill>
                  <a:srgbClr val="0F172A"/>
                </a:solidFill>
                <a:latin typeface="Georgia"/>
              </a:rPr>
              <a:t>• Marcos López de Prado CPCV with purge &amp; embargo removes temporal serial correlation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64748B"/>
                </a:solidFill>
                <a:latin typeface="Consolas"/>
              </a:rPr>
              <a:t>GTU DI05000341 Minor Project | Pramaan Architecture &amp; Verification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1">
                <a:solidFill>
                  <a:srgbClr val="64748B"/>
                </a:solidFill>
                <a:latin typeface="Consolas"/>
              </a:rPr>
              <a:t>UNIT 4: QUALITY ASSURANCE &amp; ENGINEERING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91440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200" b="1">
                <a:solidFill>
                  <a:srgbClr val="132A52"/>
                </a:solidFill>
                <a:latin typeface="Trebuchet MS"/>
              </a:rPr>
              <a:t>Engineering Discipline: Verification Ledger &amp; Test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11480"/>
            <a:ext cx="13716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1">
                <a:solidFill>
                  <a:srgbClr val="64748B"/>
                </a:solidFill>
                <a:latin typeface="Consolas"/>
              </a:rPr>
              <a:t>08 / 10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554480"/>
            <a:ext cx="512064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82880"/>
          <a:lstStyle/>
          <a:p>
            <a:pPr algn="ctr"/>
            <a:r>
              <a:rPr sz="1400" b="1">
                <a:solidFill>
                  <a:srgbClr val="047857"/>
                </a:solidFill>
                <a:latin typeface="Trebuchet MS"/>
              </a:rPr>
              <a:t>72 Automated Offline Tests (100% Green)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0F172A"/>
                </a:solidFill>
                <a:latin typeface="Georgia"/>
              </a:rPr>
              <a:t>Unit tests cover execution timing, cash ledger invariant (cash &gt;= 0), portfolio reconciliation, and cost computation without network calls.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3017520"/>
            <a:ext cx="512064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82880"/>
          <a:lstStyle/>
          <a:p>
            <a:pPr algn="ctr"/>
            <a:r>
              <a:rPr sz="1400" b="1">
                <a:solidFill>
                  <a:srgbClr val="B91C1C"/>
                </a:solidFill>
                <a:latin typeface="Trebuchet MS"/>
              </a:rPr>
              <a:t>5 Critical Defects Caught via Automated Testing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0F172A"/>
                </a:solidFill>
                <a:latin typeface="Georgia"/>
              </a:rPr>
              <a:t>1) Inverted RSI logic, 2) Duplicate datetime indexation, 3) Missing scipy dependency, 4) Synthetic benchmark curves, 5) Cash vs equity position sizing.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4480560"/>
            <a:ext cx="512064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82880"/>
          <a:lstStyle/>
          <a:p>
            <a:pPr algn="ctr"/>
            <a:r>
              <a:rPr sz="1400" b="1">
                <a:solidFill>
                  <a:srgbClr val="132A52"/>
                </a:solidFill>
                <a:latin typeface="Trebuchet MS"/>
              </a:rPr>
              <a:t>Deterministic Execution Guarantee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0F172A"/>
                </a:solidFill>
                <a:latin typeface="Georgia"/>
              </a:rPr>
              <a:t>Every backtest run generates a deterministic hash: SHA-256(strategy, params, universe, dates, cost_version) ensuring byte-for-byte reproducibility.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56655" y="1554480"/>
            <a:ext cx="530352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274320"/>
          <a:lstStyle/>
          <a:p>
            <a:pPr algn="ctr"/>
            <a:r>
              <a:rPr sz="1500" b="1">
                <a:solidFill>
                  <a:srgbClr val="132A52"/>
                </a:solidFill>
                <a:latin typeface="Trebuchet MS"/>
              </a:rPr>
              <a:t>Clean-Room Reproducibility Protocol</a:t>
            </a:r>
          </a:p>
          <a:p>
            <a:pPr>
              <a:spcBef>
                <a:spcPts val="1000"/>
              </a:spcBef>
            </a:pPr>
            <a:r>
              <a:rPr sz="1100" b="1">
                <a:solidFill>
                  <a:srgbClr val="0F172A"/>
                </a:solidFill>
                <a:latin typeface="Trebuchet MS"/>
              </a:rPr>
              <a:t>Run Experiments Pipeline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132A52"/>
                </a:solidFill>
                <a:latin typeface="Consolas"/>
              </a:rPr>
              <a:t>$ python scripts/run_experiments.py</a:t>
            </a:r>
          </a:p>
          <a:p>
            <a:pPr>
              <a:spcBef>
                <a:spcPts val="1000"/>
              </a:spcBef>
            </a:pPr>
            <a:r>
              <a:rPr sz="1100" b="1">
                <a:solidFill>
                  <a:srgbClr val="0F172A"/>
                </a:solidFill>
                <a:latin typeface="Trebuchet MS"/>
              </a:rPr>
              <a:t>Generate Validated Charts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132A52"/>
                </a:solidFill>
                <a:latin typeface="Consolas"/>
              </a:rPr>
              <a:t>$ python scripts/generate_real_charts.py</a:t>
            </a:r>
          </a:p>
          <a:p>
            <a:pPr>
              <a:spcBef>
                <a:spcPts val="1000"/>
              </a:spcBef>
            </a:pPr>
            <a:r>
              <a:rPr sz="1100" b="1">
                <a:solidFill>
                  <a:srgbClr val="0F172A"/>
                </a:solidFill>
                <a:latin typeface="Trebuchet MS"/>
              </a:rPr>
              <a:t>Execute Full Test Suite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132A52"/>
                </a:solidFill>
                <a:latin typeface="Consolas"/>
              </a:rPr>
              <a:t>$ pytest tests/ -q  (72 passed in ~7s)</a:t>
            </a:r>
          </a:p>
          <a:p>
            <a:pPr>
              <a:spcBef>
                <a:spcPts val="1000"/>
              </a:spcBef>
            </a:pPr>
            <a:r>
              <a:rPr sz="1100" b="1">
                <a:solidFill>
                  <a:srgbClr val="0F172A"/>
                </a:solidFill>
                <a:latin typeface="Trebuchet MS"/>
              </a:rPr>
              <a:t>Launch API / Tauri Desktop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132A52"/>
                </a:solidFill>
                <a:latin typeface="Consolas"/>
              </a:rPr>
              <a:t>$ pramaan-desktop  (auto-spawns FastAPI)</a:t>
            </a:r>
          </a:p>
          <a:p>
            <a:pPr>
              <a:spcBef>
                <a:spcPts val="1400"/>
              </a:spcBef>
            </a:pPr>
            <a:r>
              <a:rPr sz="1050" i="1">
                <a:solidFill>
                  <a:srgbClr val="64748B"/>
                </a:solidFill>
                <a:latin typeface="Georgia"/>
              </a:rPr>
              <a:t>Verification Ledger Rule: Over 120 verified claims tracked in .agent/01_verification_ledger.md. No claim is made without command evidence.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64748B"/>
                </a:solidFill>
                <a:latin typeface="Consolas"/>
              </a:rPr>
              <a:t>GTU DI05000341 Minor Project | Pramaan Architecture &amp; Verification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1">
                <a:solidFill>
                  <a:srgbClr val="64748B"/>
                </a:solidFill>
                <a:latin typeface="Consolas"/>
              </a:rPr>
              <a:t>UNIT 5: PROJECT SCOPE &amp; ENGINEERING CONSTRAINTS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91440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200" b="1">
                <a:solidFill>
                  <a:srgbClr val="132A52"/>
                </a:solidFill>
                <a:latin typeface="Trebuchet MS"/>
              </a:rPr>
              <a:t>Architectural Scope Boundaries: What Pramaan Is NOT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11480"/>
            <a:ext cx="13716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1">
                <a:solidFill>
                  <a:srgbClr val="64748B"/>
                </a:solidFill>
                <a:latin typeface="Consolas"/>
              </a:rPr>
              <a:t>09 / 10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554480"/>
            <a:ext cx="10728655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/>
            <a:r>
              <a:rPr sz="1250" b="1">
                <a:solidFill>
                  <a:srgbClr val="B91C1C"/>
                </a:solidFill>
                <a:latin typeface="Trebuchet MS"/>
              </a:rPr>
              <a:t>No Live Broker Connectivity  —  </a:t>
            </a:r>
            <a:r>
              <a:rPr sz="1100">
                <a:solidFill>
                  <a:srgbClr val="0F172A"/>
                </a:solidFill>
                <a:latin typeface="Georgia"/>
              </a:rPr>
              <a:t>Pramaan is strictly an offline simulation and statistical diagnostic platform. It does not connect to broker APIs (Zerodha Kite, Upstox) or execute real financial capital.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423160"/>
            <a:ext cx="10728655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/>
            <a:r>
              <a:rPr sz="1250" b="1">
                <a:solidFill>
                  <a:srgbClr val="B91C1C"/>
                </a:solidFill>
                <a:latin typeface="Trebuchet MS"/>
              </a:rPr>
              <a:t>Daily Equity Bars Only (No Intraday or Tick)  —  </a:t>
            </a:r>
            <a:r>
              <a:rPr sz="1100">
                <a:solidFill>
                  <a:srgbClr val="0F172A"/>
                </a:solidFill>
                <a:latin typeface="Georgia"/>
              </a:rPr>
              <a:t>Designed for swing and positional horizons. High-frequency tick and intraday order book dynamics are explicitly out of academic scope.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3291839"/>
            <a:ext cx="10728655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/>
            <a:r>
              <a:rPr sz="1250" b="1">
                <a:solidFill>
                  <a:srgbClr val="B91C1C"/>
                </a:solidFill>
                <a:latin typeface="Trebuchet MS"/>
              </a:rPr>
              <a:t>NSE Cash Equities Only (No Derivatives or F&amp;O)  —  </a:t>
            </a:r>
            <a:r>
              <a:rPr sz="1100">
                <a:solidFill>
                  <a:srgbClr val="0F172A"/>
                </a:solidFill>
                <a:latin typeface="Georgia"/>
              </a:rPr>
              <a:t>Statutory models strictly simulate NSE cash delivery. Options, futures, and currency segments carry different tax regimes and are omitted.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160520"/>
            <a:ext cx="10728655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/>
            <a:r>
              <a:rPr sz="1250" b="1">
                <a:solidFill>
                  <a:srgbClr val="B91C1C"/>
                </a:solidFill>
                <a:latin typeface="Trebuchet MS"/>
              </a:rPr>
              <a:t>Long-Only Cash Delivery (No Shorting or Margin)  —  </a:t>
            </a:r>
            <a:r>
              <a:rPr sz="1100">
                <a:solidFill>
                  <a:srgbClr val="0F172A"/>
                </a:solidFill>
                <a:latin typeface="Georgia"/>
              </a:rPr>
              <a:t>Assumes 100% unleveraged cash delivery. Margin trading facility (MTF) and naked shorting risks are not simulated.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5029200"/>
            <a:ext cx="10728655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/>
            <a:r>
              <a:rPr sz="1250" b="1">
                <a:solidFill>
                  <a:srgbClr val="B91C1C"/>
                </a:solidFill>
                <a:latin typeface="Trebuchet MS"/>
              </a:rPr>
              <a:t>Diagnostic Tool, Not Investment Advice  —  </a:t>
            </a:r>
            <a:r>
              <a:rPr sz="1100">
                <a:solidFill>
                  <a:srgbClr val="0F172A"/>
                </a:solidFill>
                <a:latin typeface="Georgia"/>
              </a:rPr>
              <a:t>The platform proves the absence of edge and quantifies overfitting; it makes no promises of forward profitability.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5989320"/>
            <a:ext cx="1072865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/>
          <a:lstStyle/>
          <a:p>
            <a:pPr algn="ctr"/>
            <a:r>
              <a:rPr sz="950">
                <a:solidFill>
                  <a:srgbClr val="64748B"/>
                </a:solidFill>
                <a:latin typeface="Consolas"/>
              </a:rPr>
              <a:t>Examiner Note: Stating boundaries in the viva is an academic strength. An honest tool defines its operating perimeter.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64748B"/>
                </a:solidFill>
                <a:latin typeface="Consolas"/>
              </a:rPr>
              <a:t>GTU DI05000341 Minor Project | Pramaan Architecture &amp; Verification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Trebuchet MS"/>
              </a:rPr>
              <a:t>Conclusion &amp; Viva Voce Cross-Defense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3429000" cy="1463040"/>
          </a:xfrm>
          <a:prstGeom prst="rect">
            <a:avLst/>
          </a:prstGeom>
          <a:solidFill>
            <a:srgbClr val="131E36"/>
          </a:solidFill>
          <a:ln w="12700">
            <a:solidFill>
              <a:srgbClr val="2433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64592"/>
          <a:lstStyle/>
          <a:p>
            <a:pPr algn="ctr"/>
            <a:r>
              <a:rPr sz="3200" b="1">
                <a:solidFill>
                  <a:srgbClr val="38BDF8"/>
                </a:solidFill>
                <a:latin typeface="Consolas"/>
              </a:rPr>
              <a:t>48%</a:t>
            </a:r>
          </a:p>
          <a:p>
            <a:pPr algn="ctr"/>
            <a:r>
              <a:rPr sz="1200" b="1">
                <a:solidFill>
                  <a:srgbClr val="F8FAFC"/>
                </a:solidFill>
                <a:latin typeface="Trebuchet MS"/>
              </a:rPr>
              <a:t>Sharpe Drag</a:t>
            </a:r>
          </a:p>
          <a:p>
            <a:pPr algn="ctr"/>
            <a:r>
              <a:rPr sz="950">
                <a:solidFill>
                  <a:srgbClr val="94A3B8"/>
                </a:solidFill>
                <a:latin typeface="Georgia"/>
              </a:rPr>
              <a:t>Removed by Indian statutory delivery costs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0" y="1371600"/>
            <a:ext cx="3429000" cy="1463040"/>
          </a:xfrm>
          <a:prstGeom prst="rect">
            <a:avLst/>
          </a:prstGeom>
          <a:solidFill>
            <a:srgbClr val="131E36"/>
          </a:solidFill>
          <a:ln w="12700">
            <a:solidFill>
              <a:srgbClr val="2433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64592"/>
          <a:lstStyle/>
          <a:p>
            <a:pPr algn="ctr"/>
            <a:r>
              <a:rPr sz="3200" b="1">
                <a:solidFill>
                  <a:srgbClr val="38BDF8"/>
                </a:solidFill>
                <a:latin typeface="Consolas"/>
              </a:rPr>
              <a:t>Rs 12,995</a:t>
            </a:r>
          </a:p>
          <a:p>
            <a:pPr algn="ctr"/>
            <a:r>
              <a:rPr sz="1200" b="1">
                <a:solidFill>
                  <a:srgbClr val="F8FAFC"/>
                </a:solidFill>
                <a:latin typeface="Trebuchet MS"/>
              </a:rPr>
              <a:t>Capital Lost</a:t>
            </a:r>
          </a:p>
          <a:p>
            <a:pPr algn="ctr"/>
            <a:r>
              <a:rPr sz="950">
                <a:solidFill>
                  <a:srgbClr val="94A3B8"/>
                </a:solidFill>
                <a:latin typeface="Georgia"/>
              </a:rPr>
              <a:t>Friction drag on Rs 100,000 start</a:t>
            </a:r>
          </a:p>
        </p:txBody>
      </p:sp>
      <p:sp>
        <p:nvSpPr>
          <p:cNvPr id="5" name="Rectangle 4"/>
          <p:cNvSpPr/>
          <p:nvPr/>
        </p:nvSpPr>
        <p:spPr>
          <a:xfrm>
            <a:off x="8046720" y="1371600"/>
            <a:ext cx="3429000" cy="1463040"/>
          </a:xfrm>
          <a:prstGeom prst="rect">
            <a:avLst/>
          </a:prstGeom>
          <a:solidFill>
            <a:srgbClr val="131E36"/>
          </a:solidFill>
          <a:ln w="12700">
            <a:solidFill>
              <a:srgbClr val="2433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64592"/>
          <a:lstStyle/>
          <a:p>
            <a:pPr algn="ctr"/>
            <a:r>
              <a:rPr sz="3200" b="1">
                <a:solidFill>
                  <a:srgbClr val="38BDF8"/>
                </a:solidFill>
                <a:latin typeface="Consolas"/>
              </a:rPr>
              <a:t>60%</a:t>
            </a:r>
          </a:p>
          <a:p>
            <a:pPr algn="ctr"/>
            <a:r>
              <a:rPr sz="1200" b="1">
                <a:solidFill>
                  <a:srgbClr val="F8FAFC"/>
                </a:solidFill>
                <a:latin typeface="Trebuchet MS"/>
              </a:rPr>
              <a:t>PBO Overfitting</a:t>
            </a:r>
          </a:p>
          <a:p>
            <a:pPr algn="ctr"/>
            <a:r>
              <a:rPr sz="950">
                <a:solidFill>
                  <a:srgbClr val="94A3B8"/>
                </a:solidFill>
                <a:latin typeface="Georgia"/>
              </a:rPr>
              <a:t>Probability IS winner fails out-of-sample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3063240"/>
            <a:ext cx="5257800" cy="2194560"/>
          </a:xfrm>
          <a:prstGeom prst="rect">
            <a:avLst/>
          </a:prstGeom>
          <a:solidFill>
            <a:srgbClr val="131E36"/>
          </a:solidFill>
          <a:ln w="12700">
            <a:solidFill>
              <a:srgbClr val="2433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82880"/>
          <a:lstStyle/>
          <a:p>
            <a:pPr algn="ctr"/>
            <a:r>
              <a:rPr sz="1300" b="1">
                <a:solidFill>
                  <a:srgbClr val="F8FAFC"/>
                </a:solidFill>
                <a:latin typeface="Trebuchet MS"/>
              </a:rPr>
              <a:t>Aayush Avinash Bankar (246230316006)  —  Core Engine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94A3B8"/>
                </a:solidFill>
                <a:latin typeface="Georgia"/>
              </a:rPr>
              <a:t>• Architecture &amp; Cost Model: Implemented zero-lookahead T+1 loop and Indian delivery fee stack.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94A3B8"/>
                </a:solidFill>
                <a:latin typeface="Georgia"/>
              </a:rPr>
              <a:t>• Engineering Rigour: 72 pytest regression suite, seed fixtures, deterministic execution hashes.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94A3B8"/>
                </a:solidFill>
                <a:latin typeface="Georgia"/>
              </a:rPr>
              <a:t>• Student Reflection: Proving the negative result required deeper discipline than seeking a false positive.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02375" y="3063240"/>
            <a:ext cx="5257800" cy="2194560"/>
          </a:xfrm>
          <a:prstGeom prst="rect">
            <a:avLst/>
          </a:prstGeom>
          <a:solidFill>
            <a:srgbClr val="131E36"/>
          </a:solidFill>
          <a:ln w="12700">
            <a:solidFill>
              <a:srgbClr val="2433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82880"/>
          <a:lstStyle/>
          <a:p>
            <a:pPr algn="ctr"/>
            <a:r>
              <a:rPr sz="1300" b="1">
                <a:solidFill>
                  <a:srgbClr val="F8FAFC"/>
                </a:solidFill>
                <a:latin typeface="Trebuchet MS"/>
              </a:rPr>
              <a:t>Meet Jayeshbhai Patel (246230316133)  —  Product &amp; Diagnostics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94A3B8"/>
                </a:solidFill>
                <a:latin typeface="Georgia"/>
              </a:rPr>
              <a:t>• Product Delivery: Next.js dashboard UI, Tauri desktop binary packaging, and live demo URL.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94A3B8"/>
                </a:solidFill>
                <a:latin typeface="Georgia"/>
              </a:rPr>
              <a:t>• Overfitting Analytics: López de Prado CPCV implementation, PBO matrix visualization, academic report.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94A3B8"/>
                </a:solidFill>
                <a:latin typeface="Georgia"/>
              </a:rPr>
              <a:t>• Student Reflection: Retail traders assume high returns because tools omit reality; honest tooling changes behavior.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48640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38BDF8"/>
                </a:solidFill>
                <a:latin typeface="Georgia"/>
              </a:rPr>
              <a:t>An honest backtesting tool does not tell you your idea works.
It tells you what your idea is actually worth.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